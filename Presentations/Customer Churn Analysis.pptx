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4"/>
  </p:notesMasterIdLst>
  <p:sldIdLst>
    <p:sldId id="256" r:id="rId2"/>
    <p:sldId id="262" r:id="rId3"/>
    <p:sldId id="263" r:id="rId4"/>
    <p:sldId id="267" r:id="rId5"/>
    <p:sldId id="264" r:id="rId6"/>
    <p:sldId id="265" r:id="rId7"/>
    <p:sldId id="269" r:id="rId8"/>
    <p:sldId id="270" r:id="rId9"/>
    <p:sldId id="268" r:id="rId10"/>
    <p:sldId id="271" r:id="rId11"/>
    <p:sldId id="266" r:id="rId12"/>
    <p:sldId id="272" r:id="rId1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3" d="100"/>
          <a:sy n="73" d="100"/>
        </p:scale>
        <p:origin x="774"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514957C-B30F-4DAE-A2BB-C7F6DC577B9D}" type="datetimeFigureOut">
              <a:rPr lang="en-US" smtClean="0"/>
              <a:t>4/3/2026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AFAC7E7-C0A1-46EF-8012-473CE2418DE0}" type="slidenum">
              <a:rPr lang="en-US" smtClean="0"/>
              <a:t>‹#›</a:t>
            </a:fld>
            <a:endParaRPr lang="en-US"/>
          </a:p>
        </p:txBody>
      </p:sp>
    </p:spTree>
    <p:extLst>
      <p:ext uri="{BB962C8B-B14F-4D97-AF65-F5344CB8AC3E}">
        <p14:creationId xmlns:p14="http://schemas.microsoft.com/office/powerpoint/2010/main" val="380322077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AFAC7E7-C0A1-46EF-8012-473CE2418DE0}" type="slidenum">
              <a:rPr lang="en-US" smtClean="0"/>
              <a:t>2</a:t>
            </a:fld>
            <a:endParaRPr lang="en-US"/>
          </a:p>
        </p:txBody>
      </p:sp>
    </p:spTree>
    <p:extLst>
      <p:ext uri="{BB962C8B-B14F-4D97-AF65-F5344CB8AC3E}">
        <p14:creationId xmlns:p14="http://schemas.microsoft.com/office/powerpoint/2010/main" val="22287893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B20D05-4D6B-11F8-473E-22EA6CC5A124}"/>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265FBC11-07A7-5395-8F0A-3EF240F8AD10}"/>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2C9B9117-D45E-9A1E-ABC8-817FAAE3B67C}"/>
              </a:ext>
            </a:extLst>
          </p:cNvPr>
          <p:cNvSpPr>
            <a:spLocks noGrp="1"/>
          </p:cNvSpPr>
          <p:nvPr>
            <p:ph type="dt" sz="half" idx="10"/>
          </p:nvPr>
        </p:nvSpPr>
        <p:spPr/>
        <p:txBody>
          <a:bodyPr/>
          <a:lstStyle/>
          <a:p>
            <a:fld id="{FC3456D5-7827-4F6D-BE0E-C50843F2563E}" type="datetimeFigureOut">
              <a:rPr lang="en-US" smtClean="0"/>
              <a:t>4/3/2026</a:t>
            </a:fld>
            <a:endParaRPr lang="en-US"/>
          </a:p>
        </p:txBody>
      </p:sp>
      <p:sp>
        <p:nvSpPr>
          <p:cNvPr id="5" name="Footer Placeholder 4">
            <a:extLst>
              <a:ext uri="{FF2B5EF4-FFF2-40B4-BE49-F238E27FC236}">
                <a16:creationId xmlns:a16="http://schemas.microsoft.com/office/drawing/2014/main" id="{057ABAEE-CB4A-B449-41D8-59E04281DCF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8CBC1C4-E879-28BF-E238-FD52C0A59462}"/>
              </a:ext>
            </a:extLst>
          </p:cNvPr>
          <p:cNvSpPr>
            <a:spLocks noGrp="1"/>
          </p:cNvSpPr>
          <p:nvPr>
            <p:ph type="sldNum" sz="quarter" idx="12"/>
          </p:nvPr>
        </p:nvSpPr>
        <p:spPr/>
        <p:txBody>
          <a:bodyPr/>
          <a:lstStyle/>
          <a:p>
            <a:fld id="{16D3EF88-DDBE-4B25-B73C-F7F5645E9AFC}" type="slidenum">
              <a:rPr lang="en-US" smtClean="0"/>
              <a:t>‹#›</a:t>
            </a:fld>
            <a:endParaRPr lang="en-US"/>
          </a:p>
        </p:txBody>
      </p:sp>
    </p:spTree>
    <p:extLst>
      <p:ext uri="{BB962C8B-B14F-4D97-AF65-F5344CB8AC3E}">
        <p14:creationId xmlns:p14="http://schemas.microsoft.com/office/powerpoint/2010/main" val="276667954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E88F61-88A2-9D60-B533-0CC8E49E5586}"/>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0DBA9C7A-529E-C23E-3252-02AAA6C3E281}"/>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D189951-E0C6-3BC6-84B2-BF12646409FB}"/>
              </a:ext>
            </a:extLst>
          </p:cNvPr>
          <p:cNvSpPr>
            <a:spLocks noGrp="1"/>
          </p:cNvSpPr>
          <p:nvPr>
            <p:ph type="dt" sz="half" idx="10"/>
          </p:nvPr>
        </p:nvSpPr>
        <p:spPr/>
        <p:txBody>
          <a:bodyPr/>
          <a:lstStyle/>
          <a:p>
            <a:fld id="{FC3456D5-7827-4F6D-BE0E-C50843F2563E}" type="datetimeFigureOut">
              <a:rPr lang="en-US" smtClean="0"/>
              <a:t>4/3/2026</a:t>
            </a:fld>
            <a:endParaRPr lang="en-US"/>
          </a:p>
        </p:txBody>
      </p:sp>
      <p:sp>
        <p:nvSpPr>
          <p:cNvPr id="5" name="Footer Placeholder 4">
            <a:extLst>
              <a:ext uri="{FF2B5EF4-FFF2-40B4-BE49-F238E27FC236}">
                <a16:creationId xmlns:a16="http://schemas.microsoft.com/office/drawing/2014/main" id="{BF920D46-9061-FB1A-0D2D-8A3E91F1F7C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C735809-7300-FCA2-509E-724969F06852}"/>
              </a:ext>
            </a:extLst>
          </p:cNvPr>
          <p:cNvSpPr>
            <a:spLocks noGrp="1"/>
          </p:cNvSpPr>
          <p:nvPr>
            <p:ph type="sldNum" sz="quarter" idx="12"/>
          </p:nvPr>
        </p:nvSpPr>
        <p:spPr/>
        <p:txBody>
          <a:bodyPr/>
          <a:lstStyle/>
          <a:p>
            <a:fld id="{16D3EF88-DDBE-4B25-B73C-F7F5645E9AFC}" type="slidenum">
              <a:rPr lang="en-US" smtClean="0"/>
              <a:t>‹#›</a:t>
            </a:fld>
            <a:endParaRPr lang="en-US"/>
          </a:p>
        </p:txBody>
      </p:sp>
    </p:spTree>
    <p:extLst>
      <p:ext uri="{BB962C8B-B14F-4D97-AF65-F5344CB8AC3E}">
        <p14:creationId xmlns:p14="http://schemas.microsoft.com/office/powerpoint/2010/main" val="89360014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A25B9E-3C78-621A-A6CA-A0CF36F849B3}"/>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AE44376D-AA74-BE0E-8E81-90A981097244}"/>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0D9B7E62-BC1F-F013-8DF2-A97B0502102A}"/>
              </a:ext>
            </a:extLst>
          </p:cNvPr>
          <p:cNvSpPr>
            <a:spLocks noGrp="1"/>
          </p:cNvSpPr>
          <p:nvPr>
            <p:ph type="dt" sz="half" idx="10"/>
          </p:nvPr>
        </p:nvSpPr>
        <p:spPr/>
        <p:txBody>
          <a:bodyPr/>
          <a:lstStyle/>
          <a:p>
            <a:fld id="{FC3456D5-7827-4F6D-BE0E-C50843F2563E}" type="datetimeFigureOut">
              <a:rPr lang="en-US" smtClean="0"/>
              <a:t>4/3/2026</a:t>
            </a:fld>
            <a:endParaRPr lang="en-US"/>
          </a:p>
        </p:txBody>
      </p:sp>
      <p:sp>
        <p:nvSpPr>
          <p:cNvPr id="5" name="Footer Placeholder 4">
            <a:extLst>
              <a:ext uri="{FF2B5EF4-FFF2-40B4-BE49-F238E27FC236}">
                <a16:creationId xmlns:a16="http://schemas.microsoft.com/office/drawing/2014/main" id="{06ADF241-76B5-7FC3-FB33-B440E1007E0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35B16DF-E666-3E33-628F-C4156BA4C3D0}"/>
              </a:ext>
            </a:extLst>
          </p:cNvPr>
          <p:cNvSpPr>
            <a:spLocks noGrp="1"/>
          </p:cNvSpPr>
          <p:nvPr>
            <p:ph type="sldNum" sz="quarter" idx="12"/>
          </p:nvPr>
        </p:nvSpPr>
        <p:spPr/>
        <p:txBody>
          <a:bodyPr/>
          <a:lstStyle/>
          <a:p>
            <a:fld id="{16D3EF88-DDBE-4B25-B73C-F7F5645E9AFC}" type="slidenum">
              <a:rPr lang="en-US" smtClean="0"/>
              <a:t>‹#›</a:t>
            </a:fld>
            <a:endParaRPr lang="en-US"/>
          </a:p>
        </p:txBody>
      </p:sp>
    </p:spTree>
    <p:extLst>
      <p:ext uri="{BB962C8B-B14F-4D97-AF65-F5344CB8AC3E}">
        <p14:creationId xmlns:p14="http://schemas.microsoft.com/office/powerpoint/2010/main" val="165830513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E61427-5BD9-1F20-C2AF-DB05085B60A5}"/>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5149983C-64C5-3775-BB91-D50B60F36365}"/>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C9533D60-508F-24BF-91F5-81794A9B811E}"/>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286C88BD-5BEE-2F53-08C9-B3DB769D0754}"/>
              </a:ext>
            </a:extLst>
          </p:cNvPr>
          <p:cNvSpPr>
            <a:spLocks noGrp="1"/>
          </p:cNvSpPr>
          <p:nvPr>
            <p:ph type="dt" sz="half" idx="10"/>
          </p:nvPr>
        </p:nvSpPr>
        <p:spPr/>
        <p:txBody>
          <a:bodyPr/>
          <a:lstStyle/>
          <a:p>
            <a:fld id="{FC3456D5-7827-4F6D-BE0E-C50843F2563E}" type="datetimeFigureOut">
              <a:rPr lang="en-US" smtClean="0"/>
              <a:t>4/3/2026</a:t>
            </a:fld>
            <a:endParaRPr lang="en-US"/>
          </a:p>
        </p:txBody>
      </p:sp>
      <p:sp>
        <p:nvSpPr>
          <p:cNvPr id="6" name="Footer Placeholder 5">
            <a:extLst>
              <a:ext uri="{FF2B5EF4-FFF2-40B4-BE49-F238E27FC236}">
                <a16:creationId xmlns:a16="http://schemas.microsoft.com/office/drawing/2014/main" id="{80B98C98-696E-D802-9143-49B99C614C03}"/>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256FA535-997F-0DBF-B5C0-10874F159B76}"/>
              </a:ext>
            </a:extLst>
          </p:cNvPr>
          <p:cNvSpPr>
            <a:spLocks noGrp="1"/>
          </p:cNvSpPr>
          <p:nvPr>
            <p:ph type="sldNum" sz="quarter" idx="12"/>
          </p:nvPr>
        </p:nvSpPr>
        <p:spPr/>
        <p:txBody>
          <a:bodyPr/>
          <a:lstStyle/>
          <a:p>
            <a:fld id="{16D3EF88-DDBE-4B25-B73C-F7F5645E9AFC}" type="slidenum">
              <a:rPr lang="en-US" smtClean="0"/>
              <a:t>‹#›</a:t>
            </a:fld>
            <a:endParaRPr lang="en-US"/>
          </a:p>
        </p:txBody>
      </p:sp>
    </p:spTree>
    <p:extLst>
      <p:ext uri="{BB962C8B-B14F-4D97-AF65-F5344CB8AC3E}">
        <p14:creationId xmlns:p14="http://schemas.microsoft.com/office/powerpoint/2010/main" val="233617434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FF60B8-492F-0CAB-3CE1-660ABEC0939D}"/>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ACFFA325-E54F-46DB-3035-9C0CAF7F1B8C}"/>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DA89F48A-7AEE-7ECD-1070-046E1BA510CD}"/>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1EC616AA-E765-23D6-0F52-007B5A4DFCCB}"/>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13C53308-8FCA-080D-A43C-507DE9374FB3}"/>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08E70BB5-F8AD-897E-E6DC-E6C91037AA15}"/>
              </a:ext>
            </a:extLst>
          </p:cNvPr>
          <p:cNvSpPr>
            <a:spLocks noGrp="1"/>
          </p:cNvSpPr>
          <p:nvPr>
            <p:ph type="dt" sz="half" idx="10"/>
          </p:nvPr>
        </p:nvSpPr>
        <p:spPr/>
        <p:txBody>
          <a:bodyPr/>
          <a:lstStyle/>
          <a:p>
            <a:fld id="{FC3456D5-7827-4F6D-BE0E-C50843F2563E}" type="datetimeFigureOut">
              <a:rPr lang="en-US" smtClean="0"/>
              <a:t>4/3/2026</a:t>
            </a:fld>
            <a:endParaRPr lang="en-US"/>
          </a:p>
        </p:txBody>
      </p:sp>
      <p:sp>
        <p:nvSpPr>
          <p:cNvPr id="8" name="Footer Placeholder 7">
            <a:extLst>
              <a:ext uri="{FF2B5EF4-FFF2-40B4-BE49-F238E27FC236}">
                <a16:creationId xmlns:a16="http://schemas.microsoft.com/office/drawing/2014/main" id="{36A39657-178C-5B2F-E8CE-82FAA414ECDC}"/>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C14181B3-E169-3363-B178-10EBDC136055}"/>
              </a:ext>
            </a:extLst>
          </p:cNvPr>
          <p:cNvSpPr>
            <a:spLocks noGrp="1"/>
          </p:cNvSpPr>
          <p:nvPr>
            <p:ph type="sldNum" sz="quarter" idx="12"/>
          </p:nvPr>
        </p:nvSpPr>
        <p:spPr/>
        <p:txBody>
          <a:bodyPr/>
          <a:lstStyle/>
          <a:p>
            <a:fld id="{16D3EF88-DDBE-4B25-B73C-F7F5645E9AFC}" type="slidenum">
              <a:rPr lang="en-US" smtClean="0"/>
              <a:t>‹#›</a:t>
            </a:fld>
            <a:endParaRPr lang="en-US"/>
          </a:p>
        </p:txBody>
      </p:sp>
    </p:spTree>
    <p:extLst>
      <p:ext uri="{BB962C8B-B14F-4D97-AF65-F5344CB8AC3E}">
        <p14:creationId xmlns:p14="http://schemas.microsoft.com/office/powerpoint/2010/main" val="70989301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70504A-A7E8-53FE-F7CC-9BE101729F17}"/>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38C7C4B1-CDF8-EE79-2D01-36F2CF607DAB}"/>
              </a:ext>
            </a:extLst>
          </p:cNvPr>
          <p:cNvSpPr>
            <a:spLocks noGrp="1"/>
          </p:cNvSpPr>
          <p:nvPr>
            <p:ph type="dt" sz="half" idx="10"/>
          </p:nvPr>
        </p:nvSpPr>
        <p:spPr/>
        <p:txBody>
          <a:bodyPr/>
          <a:lstStyle/>
          <a:p>
            <a:fld id="{FC3456D5-7827-4F6D-BE0E-C50843F2563E}" type="datetimeFigureOut">
              <a:rPr lang="en-US" smtClean="0"/>
              <a:t>4/3/2026</a:t>
            </a:fld>
            <a:endParaRPr lang="en-US"/>
          </a:p>
        </p:txBody>
      </p:sp>
      <p:sp>
        <p:nvSpPr>
          <p:cNvPr id="4" name="Footer Placeholder 3">
            <a:extLst>
              <a:ext uri="{FF2B5EF4-FFF2-40B4-BE49-F238E27FC236}">
                <a16:creationId xmlns:a16="http://schemas.microsoft.com/office/drawing/2014/main" id="{523FC19C-00FD-C5F7-BE3A-77CADA28EC43}"/>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4A4E2152-817A-8F35-0DE7-516C5E2C7E13}"/>
              </a:ext>
            </a:extLst>
          </p:cNvPr>
          <p:cNvSpPr>
            <a:spLocks noGrp="1"/>
          </p:cNvSpPr>
          <p:nvPr>
            <p:ph type="sldNum" sz="quarter" idx="12"/>
          </p:nvPr>
        </p:nvSpPr>
        <p:spPr/>
        <p:txBody>
          <a:bodyPr/>
          <a:lstStyle/>
          <a:p>
            <a:fld id="{16D3EF88-DDBE-4B25-B73C-F7F5645E9AFC}" type="slidenum">
              <a:rPr lang="en-US" smtClean="0"/>
              <a:t>‹#›</a:t>
            </a:fld>
            <a:endParaRPr lang="en-US"/>
          </a:p>
        </p:txBody>
      </p:sp>
    </p:spTree>
    <p:extLst>
      <p:ext uri="{BB962C8B-B14F-4D97-AF65-F5344CB8AC3E}">
        <p14:creationId xmlns:p14="http://schemas.microsoft.com/office/powerpoint/2010/main" val="351185831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13D75686-1F70-21B5-687A-2F71E571A2D1}"/>
              </a:ext>
            </a:extLst>
          </p:cNvPr>
          <p:cNvSpPr>
            <a:spLocks noGrp="1"/>
          </p:cNvSpPr>
          <p:nvPr>
            <p:ph type="dt" sz="half" idx="10"/>
          </p:nvPr>
        </p:nvSpPr>
        <p:spPr/>
        <p:txBody>
          <a:bodyPr/>
          <a:lstStyle/>
          <a:p>
            <a:fld id="{FC3456D5-7827-4F6D-BE0E-C50843F2563E}" type="datetimeFigureOut">
              <a:rPr lang="en-US" smtClean="0"/>
              <a:t>4/3/2026</a:t>
            </a:fld>
            <a:endParaRPr lang="en-US"/>
          </a:p>
        </p:txBody>
      </p:sp>
      <p:sp>
        <p:nvSpPr>
          <p:cNvPr id="3" name="Footer Placeholder 2">
            <a:extLst>
              <a:ext uri="{FF2B5EF4-FFF2-40B4-BE49-F238E27FC236}">
                <a16:creationId xmlns:a16="http://schemas.microsoft.com/office/drawing/2014/main" id="{66E91F8B-E26B-717A-69CE-1B7602B7A60C}"/>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FF58C10E-5271-FFB2-E81D-2128E5A1038C}"/>
              </a:ext>
            </a:extLst>
          </p:cNvPr>
          <p:cNvSpPr>
            <a:spLocks noGrp="1"/>
          </p:cNvSpPr>
          <p:nvPr>
            <p:ph type="sldNum" sz="quarter" idx="12"/>
          </p:nvPr>
        </p:nvSpPr>
        <p:spPr/>
        <p:txBody>
          <a:bodyPr/>
          <a:lstStyle/>
          <a:p>
            <a:fld id="{16D3EF88-DDBE-4B25-B73C-F7F5645E9AFC}" type="slidenum">
              <a:rPr lang="en-US" smtClean="0"/>
              <a:t>‹#›</a:t>
            </a:fld>
            <a:endParaRPr lang="en-US"/>
          </a:p>
        </p:txBody>
      </p:sp>
    </p:spTree>
    <p:extLst>
      <p:ext uri="{BB962C8B-B14F-4D97-AF65-F5344CB8AC3E}">
        <p14:creationId xmlns:p14="http://schemas.microsoft.com/office/powerpoint/2010/main" val="368044308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B4FD8F-428B-2A21-7C44-169019B888B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5C9973BC-935D-FA43-249F-399F63128F46}"/>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9A4E8457-349E-E8E0-336B-689FBD425FB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D52E9E3-4DF6-C381-2BD9-3332CB15A9E7}"/>
              </a:ext>
            </a:extLst>
          </p:cNvPr>
          <p:cNvSpPr>
            <a:spLocks noGrp="1"/>
          </p:cNvSpPr>
          <p:nvPr>
            <p:ph type="dt" sz="half" idx="10"/>
          </p:nvPr>
        </p:nvSpPr>
        <p:spPr/>
        <p:txBody>
          <a:bodyPr/>
          <a:lstStyle/>
          <a:p>
            <a:fld id="{FC3456D5-7827-4F6D-BE0E-C50843F2563E}" type="datetimeFigureOut">
              <a:rPr lang="en-US" smtClean="0"/>
              <a:t>4/3/2026</a:t>
            </a:fld>
            <a:endParaRPr lang="en-US"/>
          </a:p>
        </p:txBody>
      </p:sp>
      <p:sp>
        <p:nvSpPr>
          <p:cNvPr id="6" name="Footer Placeholder 5">
            <a:extLst>
              <a:ext uri="{FF2B5EF4-FFF2-40B4-BE49-F238E27FC236}">
                <a16:creationId xmlns:a16="http://schemas.microsoft.com/office/drawing/2014/main" id="{BC2957C5-B4B7-DBFE-9ADD-718D9A090998}"/>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58A5C857-D7D0-554F-5F21-AC360E74C406}"/>
              </a:ext>
            </a:extLst>
          </p:cNvPr>
          <p:cNvSpPr>
            <a:spLocks noGrp="1"/>
          </p:cNvSpPr>
          <p:nvPr>
            <p:ph type="sldNum" sz="quarter" idx="12"/>
          </p:nvPr>
        </p:nvSpPr>
        <p:spPr/>
        <p:txBody>
          <a:bodyPr/>
          <a:lstStyle/>
          <a:p>
            <a:fld id="{16D3EF88-DDBE-4B25-B73C-F7F5645E9AFC}" type="slidenum">
              <a:rPr lang="en-US" smtClean="0"/>
              <a:t>‹#›</a:t>
            </a:fld>
            <a:endParaRPr lang="en-US"/>
          </a:p>
        </p:txBody>
      </p:sp>
    </p:spTree>
    <p:extLst>
      <p:ext uri="{BB962C8B-B14F-4D97-AF65-F5344CB8AC3E}">
        <p14:creationId xmlns:p14="http://schemas.microsoft.com/office/powerpoint/2010/main" val="204623406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E5FA97-8BA4-CD6C-DAAA-D67E857A8FD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04E50419-CEAA-C00C-BAAA-D42EDCF0B00E}"/>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B8BBABE0-2975-A0FA-580B-29781A34AAA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94EC206-5000-2E49-CEA1-C8D834AC9510}"/>
              </a:ext>
            </a:extLst>
          </p:cNvPr>
          <p:cNvSpPr>
            <a:spLocks noGrp="1"/>
          </p:cNvSpPr>
          <p:nvPr>
            <p:ph type="dt" sz="half" idx="10"/>
          </p:nvPr>
        </p:nvSpPr>
        <p:spPr/>
        <p:txBody>
          <a:bodyPr/>
          <a:lstStyle/>
          <a:p>
            <a:fld id="{FC3456D5-7827-4F6D-BE0E-C50843F2563E}" type="datetimeFigureOut">
              <a:rPr lang="en-US" smtClean="0"/>
              <a:t>4/3/2026</a:t>
            </a:fld>
            <a:endParaRPr lang="en-US"/>
          </a:p>
        </p:txBody>
      </p:sp>
      <p:sp>
        <p:nvSpPr>
          <p:cNvPr id="6" name="Footer Placeholder 5">
            <a:extLst>
              <a:ext uri="{FF2B5EF4-FFF2-40B4-BE49-F238E27FC236}">
                <a16:creationId xmlns:a16="http://schemas.microsoft.com/office/drawing/2014/main" id="{23F9D3A5-2675-9100-915E-BA9619FEF83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D702593-C7F8-4266-B91F-E151F6A53DEC}"/>
              </a:ext>
            </a:extLst>
          </p:cNvPr>
          <p:cNvSpPr>
            <a:spLocks noGrp="1"/>
          </p:cNvSpPr>
          <p:nvPr>
            <p:ph type="sldNum" sz="quarter" idx="12"/>
          </p:nvPr>
        </p:nvSpPr>
        <p:spPr/>
        <p:txBody>
          <a:bodyPr/>
          <a:lstStyle/>
          <a:p>
            <a:fld id="{16D3EF88-DDBE-4B25-B73C-F7F5645E9AFC}" type="slidenum">
              <a:rPr lang="en-US" smtClean="0"/>
              <a:t>‹#›</a:t>
            </a:fld>
            <a:endParaRPr lang="en-US"/>
          </a:p>
        </p:txBody>
      </p:sp>
    </p:spTree>
    <p:extLst>
      <p:ext uri="{BB962C8B-B14F-4D97-AF65-F5344CB8AC3E}">
        <p14:creationId xmlns:p14="http://schemas.microsoft.com/office/powerpoint/2010/main" val="356105492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060042-FDEE-E7A0-BCA6-67AD052EC852}"/>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C4801667-9FF5-2B48-94AB-0949A1211909}"/>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B4F0F7C-B671-16BA-47D2-A36AC59B6794}"/>
              </a:ext>
            </a:extLst>
          </p:cNvPr>
          <p:cNvSpPr>
            <a:spLocks noGrp="1"/>
          </p:cNvSpPr>
          <p:nvPr>
            <p:ph type="dt" sz="half" idx="10"/>
          </p:nvPr>
        </p:nvSpPr>
        <p:spPr/>
        <p:txBody>
          <a:bodyPr/>
          <a:lstStyle/>
          <a:p>
            <a:fld id="{FC3456D5-7827-4F6D-BE0E-C50843F2563E}" type="datetimeFigureOut">
              <a:rPr lang="en-US" smtClean="0"/>
              <a:t>4/3/2026</a:t>
            </a:fld>
            <a:endParaRPr lang="en-US"/>
          </a:p>
        </p:txBody>
      </p:sp>
      <p:sp>
        <p:nvSpPr>
          <p:cNvPr id="5" name="Footer Placeholder 4">
            <a:extLst>
              <a:ext uri="{FF2B5EF4-FFF2-40B4-BE49-F238E27FC236}">
                <a16:creationId xmlns:a16="http://schemas.microsoft.com/office/drawing/2014/main" id="{720EB71F-C8DC-12CD-E10D-72534BC4464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7E4D488-71F9-81A4-7094-DDCD66BDC131}"/>
              </a:ext>
            </a:extLst>
          </p:cNvPr>
          <p:cNvSpPr>
            <a:spLocks noGrp="1"/>
          </p:cNvSpPr>
          <p:nvPr>
            <p:ph type="sldNum" sz="quarter" idx="12"/>
          </p:nvPr>
        </p:nvSpPr>
        <p:spPr/>
        <p:txBody>
          <a:bodyPr/>
          <a:lstStyle/>
          <a:p>
            <a:fld id="{16D3EF88-DDBE-4B25-B73C-F7F5645E9AFC}" type="slidenum">
              <a:rPr lang="en-US" smtClean="0"/>
              <a:t>‹#›</a:t>
            </a:fld>
            <a:endParaRPr lang="en-US"/>
          </a:p>
        </p:txBody>
      </p:sp>
    </p:spTree>
    <p:extLst>
      <p:ext uri="{BB962C8B-B14F-4D97-AF65-F5344CB8AC3E}">
        <p14:creationId xmlns:p14="http://schemas.microsoft.com/office/powerpoint/2010/main" val="149778624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70C2954C-400F-3A9C-5520-3CCD949F1596}"/>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253C6CE4-1AD1-9926-80CD-1269C67A31B6}"/>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BEF6E70-9148-11B8-3D7D-8BF6655B8E06}"/>
              </a:ext>
            </a:extLst>
          </p:cNvPr>
          <p:cNvSpPr>
            <a:spLocks noGrp="1"/>
          </p:cNvSpPr>
          <p:nvPr>
            <p:ph type="dt" sz="half" idx="10"/>
          </p:nvPr>
        </p:nvSpPr>
        <p:spPr/>
        <p:txBody>
          <a:bodyPr/>
          <a:lstStyle/>
          <a:p>
            <a:fld id="{FC3456D5-7827-4F6D-BE0E-C50843F2563E}" type="datetimeFigureOut">
              <a:rPr lang="en-US" smtClean="0"/>
              <a:t>4/3/2026</a:t>
            </a:fld>
            <a:endParaRPr lang="en-US"/>
          </a:p>
        </p:txBody>
      </p:sp>
      <p:sp>
        <p:nvSpPr>
          <p:cNvPr id="5" name="Footer Placeholder 4">
            <a:extLst>
              <a:ext uri="{FF2B5EF4-FFF2-40B4-BE49-F238E27FC236}">
                <a16:creationId xmlns:a16="http://schemas.microsoft.com/office/drawing/2014/main" id="{62E7CA19-8AF2-068C-8AB7-39056CF5211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336B5D2-A2D2-000B-EE63-35962B9993BD}"/>
              </a:ext>
            </a:extLst>
          </p:cNvPr>
          <p:cNvSpPr>
            <a:spLocks noGrp="1"/>
          </p:cNvSpPr>
          <p:nvPr>
            <p:ph type="sldNum" sz="quarter" idx="12"/>
          </p:nvPr>
        </p:nvSpPr>
        <p:spPr/>
        <p:txBody>
          <a:bodyPr/>
          <a:lstStyle/>
          <a:p>
            <a:fld id="{16D3EF88-DDBE-4B25-B73C-F7F5645E9AFC}" type="slidenum">
              <a:rPr lang="en-US" smtClean="0"/>
              <a:t>‹#›</a:t>
            </a:fld>
            <a:endParaRPr lang="en-US"/>
          </a:p>
        </p:txBody>
      </p:sp>
    </p:spTree>
    <p:extLst>
      <p:ext uri="{BB962C8B-B14F-4D97-AF65-F5344CB8AC3E}">
        <p14:creationId xmlns:p14="http://schemas.microsoft.com/office/powerpoint/2010/main" val="284734304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2C02188-1EB6-76E4-48E7-6B3CFA8B2E82}"/>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FE2F807C-9E38-0E52-A634-8EB3276A638B}"/>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EE7B399-1086-9111-6B64-DB090E10E895}"/>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FC3456D5-7827-4F6D-BE0E-C50843F2563E}" type="datetimeFigureOut">
              <a:rPr lang="en-US" smtClean="0"/>
              <a:t>4/3/2026</a:t>
            </a:fld>
            <a:endParaRPr lang="en-US"/>
          </a:p>
        </p:txBody>
      </p:sp>
      <p:sp>
        <p:nvSpPr>
          <p:cNvPr id="5" name="Footer Placeholder 4">
            <a:extLst>
              <a:ext uri="{FF2B5EF4-FFF2-40B4-BE49-F238E27FC236}">
                <a16:creationId xmlns:a16="http://schemas.microsoft.com/office/drawing/2014/main" id="{1B9A3A35-22CA-CC8B-F7FD-2B679CCE3041}"/>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C66F74C6-36DE-7609-864B-8F4E5D1ADE43}"/>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6D3EF88-DDBE-4B25-B73C-F7F5645E9AFC}" type="slidenum">
              <a:rPr lang="en-US" smtClean="0"/>
              <a:t>‹#›</a:t>
            </a:fld>
            <a:endParaRPr lang="en-US"/>
          </a:p>
        </p:txBody>
      </p:sp>
    </p:spTree>
    <p:extLst>
      <p:ext uri="{BB962C8B-B14F-4D97-AF65-F5344CB8AC3E}">
        <p14:creationId xmlns:p14="http://schemas.microsoft.com/office/powerpoint/2010/main" val="426118960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BA4A0A-8DBF-0936-CD20-15DBAC12BC42}"/>
              </a:ext>
            </a:extLst>
          </p:cNvPr>
          <p:cNvSpPr>
            <a:spLocks noGrp="1"/>
          </p:cNvSpPr>
          <p:nvPr>
            <p:ph type="ctrTitle"/>
          </p:nvPr>
        </p:nvSpPr>
        <p:spPr/>
        <p:txBody>
          <a:bodyPr/>
          <a:lstStyle/>
          <a:p>
            <a:r>
              <a:rPr lang="en-US" dirty="0">
                <a:latin typeface="Times New Roman" panose="02020603050405020304" pitchFamily="18" charset="0"/>
                <a:cs typeface="Times New Roman" panose="02020603050405020304" pitchFamily="18" charset="0"/>
              </a:rPr>
              <a:t>Customer Churn Analysis</a:t>
            </a:r>
          </a:p>
        </p:txBody>
      </p:sp>
      <p:sp>
        <p:nvSpPr>
          <p:cNvPr id="3" name="Subtitle 2">
            <a:extLst>
              <a:ext uri="{FF2B5EF4-FFF2-40B4-BE49-F238E27FC236}">
                <a16:creationId xmlns:a16="http://schemas.microsoft.com/office/drawing/2014/main" id="{C1F46DE0-D474-D4CA-21F3-67A4247ADC0B}"/>
              </a:ext>
            </a:extLst>
          </p:cNvPr>
          <p:cNvSpPr>
            <a:spLocks noGrp="1"/>
          </p:cNvSpPr>
          <p:nvPr>
            <p:ph type="subTitle" idx="1"/>
          </p:nvPr>
        </p:nvSpPr>
        <p:spPr>
          <a:xfrm>
            <a:off x="9619672" y="5735637"/>
            <a:ext cx="2096655" cy="427182"/>
          </a:xfrm>
        </p:spPr>
        <p:txBody>
          <a:bodyPr/>
          <a:lstStyle/>
          <a:p>
            <a:r>
              <a:rPr lang="en-US" dirty="0">
                <a:latin typeface="Times New Roman" panose="02020603050405020304" pitchFamily="18" charset="0"/>
                <a:cs typeface="Times New Roman" panose="02020603050405020304" pitchFamily="18" charset="0"/>
              </a:rPr>
              <a:t>Jayant Sail</a:t>
            </a:r>
          </a:p>
        </p:txBody>
      </p:sp>
    </p:spTree>
    <p:extLst>
      <p:ext uri="{BB962C8B-B14F-4D97-AF65-F5344CB8AC3E}">
        <p14:creationId xmlns:p14="http://schemas.microsoft.com/office/powerpoint/2010/main" val="32808000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EA3593-377E-0464-0CD1-372609177D86}"/>
              </a:ext>
            </a:extLst>
          </p:cNvPr>
          <p:cNvSpPr>
            <a:spLocks noGrp="1"/>
          </p:cNvSpPr>
          <p:nvPr>
            <p:ph type="title"/>
          </p:nvPr>
        </p:nvSpPr>
        <p:spPr/>
        <p:txBody>
          <a:bodyPr>
            <a:normAutofit/>
          </a:bodyPr>
          <a:lstStyle/>
          <a:p>
            <a:r>
              <a:rPr lang="en-US" sz="4000" dirty="0">
                <a:latin typeface="Times New Roman" panose="02020603050405020304" pitchFamily="18" charset="0"/>
                <a:cs typeface="Times New Roman" panose="02020603050405020304" pitchFamily="18" charset="0"/>
              </a:rPr>
              <a:t>Problem Statement</a:t>
            </a:r>
            <a:endParaRPr lang="en-US" sz="4000" dirty="0"/>
          </a:p>
        </p:txBody>
      </p:sp>
      <p:sp>
        <p:nvSpPr>
          <p:cNvPr id="3" name="Content Placeholder 2">
            <a:extLst>
              <a:ext uri="{FF2B5EF4-FFF2-40B4-BE49-F238E27FC236}">
                <a16:creationId xmlns:a16="http://schemas.microsoft.com/office/drawing/2014/main" id="{01F76627-0B87-6788-BE83-7136CF024E05}"/>
              </a:ext>
            </a:extLst>
          </p:cNvPr>
          <p:cNvSpPr>
            <a:spLocks noGrp="1"/>
          </p:cNvSpPr>
          <p:nvPr>
            <p:ph idx="1"/>
          </p:nvPr>
        </p:nvSpPr>
        <p:spPr/>
        <p:txBody>
          <a:bodyPr/>
          <a:lstStyle/>
          <a:p>
            <a:r>
              <a:rPr lang="en-US" sz="2400" dirty="0">
                <a:latin typeface="Times New Roman" panose="02020603050405020304" pitchFamily="18" charset="0"/>
                <a:cs typeface="Times New Roman" panose="02020603050405020304" pitchFamily="18" charset="0"/>
              </a:rPr>
              <a:t>Customer churn is a major challenge for companies, as losing customers directly impacts revenue and growth. The purpose of this project is to analyze customer data to understand customer behavior, identify key factors influencing churn, and uncover patterns that help businesses reduce customer attrition.</a:t>
            </a:r>
          </a:p>
          <a:p>
            <a:endParaRPr lang="en-US" dirty="0"/>
          </a:p>
        </p:txBody>
      </p:sp>
    </p:spTree>
    <p:extLst>
      <p:ext uri="{BB962C8B-B14F-4D97-AF65-F5344CB8AC3E}">
        <p14:creationId xmlns:p14="http://schemas.microsoft.com/office/powerpoint/2010/main" val="247133644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a:extLst>
            <a:ext uri="{FF2B5EF4-FFF2-40B4-BE49-F238E27FC236}">
              <a16:creationId xmlns:a16="http://schemas.microsoft.com/office/drawing/2014/main" id="{615F1795-3D2C-BB39-9702-FD56E7827E5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B51A6FA-BC32-897F-A039-E3C5B55C262A}"/>
              </a:ext>
            </a:extLst>
          </p:cNvPr>
          <p:cNvSpPr>
            <a:spLocks noGrp="1"/>
          </p:cNvSpPr>
          <p:nvPr>
            <p:ph type="title"/>
          </p:nvPr>
        </p:nvSpPr>
        <p:spPr/>
        <p:txBody>
          <a:bodyPr>
            <a:normAutofit/>
          </a:bodyPr>
          <a:lstStyle/>
          <a:p>
            <a:r>
              <a:rPr lang="en-US" sz="4000" dirty="0">
                <a:latin typeface="Times New Roman" panose="02020603050405020304" pitchFamily="18" charset="0"/>
                <a:cs typeface="Times New Roman" panose="02020603050405020304" pitchFamily="18" charset="0"/>
              </a:rPr>
              <a:t>Objective</a:t>
            </a:r>
          </a:p>
        </p:txBody>
      </p:sp>
      <p:sp>
        <p:nvSpPr>
          <p:cNvPr id="3" name="Content Placeholder 2">
            <a:extLst>
              <a:ext uri="{FF2B5EF4-FFF2-40B4-BE49-F238E27FC236}">
                <a16:creationId xmlns:a16="http://schemas.microsoft.com/office/drawing/2014/main" id="{39225885-D7FD-C285-D678-0D5648229914}"/>
              </a:ext>
            </a:extLst>
          </p:cNvPr>
          <p:cNvSpPr>
            <a:spLocks noGrp="1"/>
          </p:cNvSpPr>
          <p:nvPr>
            <p:ph idx="1"/>
          </p:nvPr>
        </p:nvSpPr>
        <p:spPr/>
        <p:txBody>
          <a:bodyPr>
            <a:normAutofit/>
          </a:bodyPr>
          <a:lstStyle/>
          <a:p>
            <a:r>
              <a:rPr lang="en-US" sz="2400" dirty="0">
                <a:latin typeface="Times New Roman" panose="02020603050405020304" pitchFamily="18" charset="0"/>
                <a:cs typeface="Times New Roman" panose="02020603050405020304" pitchFamily="18" charset="0"/>
              </a:rPr>
              <a:t>Identify the key factors that are driving customer churn.</a:t>
            </a:r>
          </a:p>
          <a:p>
            <a:r>
              <a:rPr lang="en-US" sz="2400" dirty="0">
                <a:latin typeface="Times New Roman" panose="02020603050405020304" pitchFamily="18" charset="0"/>
                <a:cs typeface="Times New Roman" panose="02020603050405020304" pitchFamily="18" charset="0"/>
              </a:rPr>
              <a:t>Understand customer behavior toward company's services.</a:t>
            </a:r>
          </a:p>
          <a:p>
            <a:r>
              <a:rPr lang="en-US" sz="2400" dirty="0">
                <a:latin typeface="Times New Roman" panose="02020603050405020304" pitchFamily="18" charset="0"/>
                <a:cs typeface="Times New Roman" panose="02020603050405020304" pitchFamily="18" charset="0"/>
              </a:rPr>
              <a:t>Generate data driven insights that help business to reduce churn and improve customer retention strategies.</a:t>
            </a:r>
          </a:p>
        </p:txBody>
      </p:sp>
    </p:spTree>
    <p:extLst>
      <p:ext uri="{BB962C8B-B14F-4D97-AF65-F5344CB8AC3E}">
        <p14:creationId xmlns:p14="http://schemas.microsoft.com/office/powerpoint/2010/main" val="403942660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a:extLst>
            <a:ext uri="{FF2B5EF4-FFF2-40B4-BE49-F238E27FC236}">
              <a16:creationId xmlns:a16="http://schemas.microsoft.com/office/drawing/2014/main" id="{DF40A445-6EEE-5D7B-1170-3290BD9AE2E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7FE98D7-2368-BEF4-012C-9413EC93C01F}"/>
              </a:ext>
            </a:extLst>
          </p:cNvPr>
          <p:cNvSpPr>
            <a:spLocks noGrp="1"/>
          </p:cNvSpPr>
          <p:nvPr>
            <p:ph type="title"/>
          </p:nvPr>
        </p:nvSpPr>
        <p:spPr/>
        <p:txBody>
          <a:bodyPr>
            <a:normAutofit/>
          </a:bodyPr>
          <a:lstStyle/>
          <a:p>
            <a:r>
              <a:rPr lang="en-US" sz="4000" dirty="0">
                <a:latin typeface="Times New Roman" panose="02020603050405020304" pitchFamily="18" charset="0"/>
                <a:cs typeface="Times New Roman" panose="02020603050405020304" pitchFamily="18" charset="0"/>
              </a:rPr>
              <a:t>Overview of dataset</a:t>
            </a:r>
          </a:p>
        </p:txBody>
      </p:sp>
      <p:sp>
        <p:nvSpPr>
          <p:cNvPr id="3" name="Content Placeholder 2">
            <a:extLst>
              <a:ext uri="{FF2B5EF4-FFF2-40B4-BE49-F238E27FC236}">
                <a16:creationId xmlns:a16="http://schemas.microsoft.com/office/drawing/2014/main" id="{D6F3893F-2358-693B-7DA8-F4FEEE7C839D}"/>
              </a:ext>
            </a:extLst>
          </p:cNvPr>
          <p:cNvSpPr>
            <a:spLocks noGrp="1"/>
          </p:cNvSpPr>
          <p:nvPr>
            <p:ph idx="1"/>
          </p:nvPr>
        </p:nvSpPr>
        <p:spPr/>
        <p:txBody>
          <a:bodyPr>
            <a:noAutofit/>
          </a:bodyPr>
          <a:lstStyle/>
          <a:p>
            <a:r>
              <a:rPr lang="en-US" sz="2400" dirty="0">
                <a:latin typeface="Times New Roman" panose="02020603050405020304" pitchFamily="18" charset="0"/>
                <a:cs typeface="Times New Roman" panose="02020603050405020304" pitchFamily="18" charset="0"/>
              </a:rPr>
              <a:t>This is a Telecom Customer Churn dataset downloaded from Kaggle.</a:t>
            </a:r>
            <a:br>
              <a:rPr lang="en-US" sz="2400" dirty="0">
                <a:latin typeface="Times New Roman" panose="02020603050405020304" pitchFamily="18" charset="0"/>
                <a:cs typeface="Times New Roman" panose="02020603050405020304" pitchFamily="18" charset="0"/>
              </a:rPr>
            </a:br>
            <a:r>
              <a:rPr lang="en-US" sz="2400" dirty="0">
                <a:latin typeface="Times New Roman" panose="02020603050405020304" pitchFamily="18" charset="0"/>
                <a:cs typeface="Times New Roman" panose="02020603050405020304" pitchFamily="18" charset="0"/>
              </a:rPr>
              <a:t>It contains 7,043 records and 38 columns including customer demographic, services, billing, and churn information.</a:t>
            </a:r>
          </a:p>
          <a:p>
            <a:pPr marL="0" indent="0">
              <a:buNone/>
            </a:pPr>
            <a:endParaRPr lang="en-US" sz="2400" dirty="0">
              <a:latin typeface="Times New Roman" panose="02020603050405020304" pitchFamily="18" charset="0"/>
              <a:cs typeface="Times New Roman" panose="02020603050405020304" pitchFamily="18" charset="0"/>
            </a:endParaRPr>
          </a:p>
          <a:p>
            <a:r>
              <a:rPr lang="en-US" sz="2400" dirty="0">
                <a:latin typeface="Times New Roman" panose="02020603050405020304" pitchFamily="18" charset="0"/>
                <a:cs typeface="Times New Roman" panose="02020603050405020304" pitchFamily="18" charset="0"/>
              </a:rPr>
              <a:t>Key Columns Include:</a:t>
            </a:r>
          </a:p>
          <a:p>
            <a:pPr marL="914400" lvl="1" indent="-457200">
              <a:buFont typeface="+mj-lt"/>
              <a:buAutoNum type="arabicPeriod"/>
            </a:pPr>
            <a:r>
              <a:rPr lang="en-US" dirty="0">
                <a:latin typeface="Times New Roman" panose="02020603050405020304" pitchFamily="18" charset="0"/>
                <a:cs typeface="Times New Roman" panose="02020603050405020304" pitchFamily="18" charset="0"/>
              </a:rPr>
              <a:t>Demographic: Age, Gender, Marital Status, Number of Dependents.</a:t>
            </a:r>
          </a:p>
          <a:p>
            <a:pPr marL="914400" lvl="1" indent="-457200">
              <a:buFont typeface="+mj-lt"/>
              <a:buAutoNum type="arabicPeriod"/>
            </a:pPr>
            <a:r>
              <a:rPr lang="en-US" dirty="0">
                <a:latin typeface="Times New Roman" panose="02020603050405020304" pitchFamily="18" charset="0"/>
                <a:cs typeface="Times New Roman" panose="02020603050405020304" pitchFamily="18" charset="0"/>
              </a:rPr>
              <a:t>Customer Relationship: Tenure in Months, Number of Referrals.</a:t>
            </a:r>
          </a:p>
          <a:p>
            <a:pPr marL="914400" lvl="1" indent="-457200">
              <a:buFont typeface="+mj-lt"/>
              <a:buAutoNum type="arabicPeriod"/>
            </a:pPr>
            <a:r>
              <a:rPr lang="en-US" dirty="0">
                <a:latin typeface="Times New Roman" panose="02020603050405020304" pitchFamily="18" charset="0"/>
                <a:cs typeface="Times New Roman" panose="02020603050405020304" pitchFamily="18" charset="0"/>
              </a:rPr>
              <a:t>Billing: Contract, Payment Method, Paperless Billing, Monthly Charge.</a:t>
            </a:r>
          </a:p>
          <a:p>
            <a:pPr marL="914400" lvl="1" indent="-457200">
              <a:buFont typeface="+mj-lt"/>
              <a:buAutoNum type="arabicPeriod"/>
            </a:pPr>
            <a:r>
              <a:rPr lang="en-US" dirty="0">
                <a:latin typeface="Times New Roman" panose="02020603050405020304" pitchFamily="18" charset="0"/>
                <a:cs typeface="Times New Roman" panose="02020603050405020304" pitchFamily="18" charset="0"/>
              </a:rPr>
              <a:t>Revenue: Total Charges, Total Revenue.</a:t>
            </a:r>
          </a:p>
          <a:p>
            <a:pPr marL="914400" lvl="1" indent="-457200">
              <a:buFont typeface="+mj-lt"/>
              <a:buAutoNum type="arabicPeriod"/>
            </a:pPr>
            <a:r>
              <a:rPr lang="en-US" dirty="0">
                <a:latin typeface="Times New Roman" panose="02020603050405020304" pitchFamily="18" charset="0"/>
                <a:cs typeface="Times New Roman" panose="02020603050405020304" pitchFamily="18" charset="0"/>
              </a:rPr>
              <a:t>Target Variables: Customer Status, Churn Category, Churn Reason.</a:t>
            </a:r>
          </a:p>
          <a:p>
            <a:pPr marL="0" indent="0">
              <a:buNone/>
            </a:pPr>
            <a:endParaRPr lang="en-US" sz="2400" dirty="0"/>
          </a:p>
          <a:p>
            <a:pPr marL="0" indent="0">
              <a:buNone/>
            </a:pPr>
            <a:endParaRPr lang="en-US" sz="2400" dirty="0"/>
          </a:p>
        </p:txBody>
      </p:sp>
    </p:spTree>
    <p:extLst>
      <p:ext uri="{BB962C8B-B14F-4D97-AF65-F5344CB8AC3E}">
        <p14:creationId xmlns:p14="http://schemas.microsoft.com/office/powerpoint/2010/main" val="112478499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a:extLst>
            <a:ext uri="{FF2B5EF4-FFF2-40B4-BE49-F238E27FC236}">
              <a16:creationId xmlns:a16="http://schemas.microsoft.com/office/drawing/2014/main" id="{02612820-E3A2-12C5-A850-9F345590C64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7D17D94-A47D-057D-16B9-1DC4F5B63076}"/>
              </a:ext>
            </a:extLst>
          </p:cNvPr>
          <p:cNvSpPr>
            <a:spLocks noGrp="1"/>
          </p:cNvSpPr>
          <p:nvPr>
            <p:ph type="title"/>
          </p:nvPr>
        </p:nvSpPr>
        <p:spPr/>
        <p:txBody>
          <a:bodyPr>
            <a:normAutofit/>
          </a:bodyPr>
          <a:lstStyle/>
          <a:p>
            <a:r>
              <a:rPr lang="en-US" sz="4000" dirty="0">
                <a:latin typeface="Times New Roman" panose="02020603050405020304" pitchFamily="18" charset="0"/>
                <a:cs typeface="Times New Roman" panose="02020603050405020304" pitchFamily="18" charset="0"/>
              </a:rPr>
              <a:t>Tools I’ve used</a:t>
            </a:r>
          </a:p>
        </p:txBody>
      </p:sp>
      <p:sp>
        <p:nvSpPr>
          <p:cNvPr id="3" name="Content Placeholder 2">
            <a:extLst>
              <a:ext uri="{FF2B5EF4-FFF2-40B4-BE49-F238E27FC236}">
                <a16:creationId xmlns:a16="http://schemas.microsoft.com/office/drawing/2014/main" id="{8DF9097E-804A-2B42-2DFC-77ECBDEE39F2}"/>
              </a:ext>
            </a:extLst>
          </p:cNvPr>
          <p:cNvSpPr>
            <a:spLocks noGrp="1"/>
          </p:cNvSpPr>
          <p:nvPr>
            <p:ph idx="1"/>
          </p:nvPr>
        </p:nvSpPr>
        <p:spPr/>
        <p:txBody>
          <a:bodyPr>
            <a:normAutofit/>
          </a:bodyPr>
          <a:lstStyle/>
          <a:p>
            <a:r>
              <a:rPr lang="en-US" sz="2400" dirty="0">
                <a:latin typeface="Times New Roman" panose="02020603050405020304" pitchFamily="18" charset="0"/>
                <a:cs typeface="Times New Roman" panose="02020603050405020304" pitchFamily="18" charset="0"/>
              </a:rPr>
              <a:t>Tools: Google </a:t>
            </a:r>
            <a:r>
              <a:rPr lang="en-US" sz="2400" dirty="0" err="1">
                <a:latin typeface="Times New Roman" panose="02020603050405020304" pitchFamily="18" charset="0"/>
                <a:cs typeface="Times New Roman" panose="02020603050405020304" pitchFamily="18" charset="0"/>
              </a:rPr>
              <a:t>colab</a:t>
            </a:r>
            <a:endParaRPr lang="en-US" sz="2400" dirty="0">
              <a:latin typeface="Times New Roman" panose="02020603050405020304" pitchFamily="18" charset="0"/>
              <a:cs typeface="Times New Roman" panose="02020603050405020304" pitchFamily="18" charset="0"/>
            </a:endParaRPr>
          </a:p>
          <a:p>
            <a:r>
              <a:rPr lang="en-US" sz="2400" dirty="0">
                <a:latin typeface="Times New Roman" panose="02020603050405020304" pitchFamily="18" charset="0"/>
                <a:cs typeface="Times New Roman" panose="02020603050405020304" pitchFamily="18" charset="0"/>
              </a:rPr>
              <a:t>Programming language: Python</a:t>
            </a:r>
          </a:p>
          <a:p>
            <a:r>
              <a:rPr lang="en-US" sz="2400" dirty="0">
                <a:latin typeface="Times New Roman" panose="02020603050405020304" pitchFamily="18" charset="0"/>
                <a:cs typeface="Times New Roman" panose="02020603050405020304" pitchFamily="18" charset="0"/>
              </a:rPr>
              <a:t>Data visualization: Matplotlib, Seaborn</a:t>
            </a:r>
          </a:p>
          <a:p>
            <a:r>
              <a:rPr lang="en-US" sz="2400" dirty="0">
                <a:latin typeface="Times New Roman" panose="02020603050405020304" pitchFamily="18" charset="0"/>
                <a:cs typeface="Times New Roman" panose="02020603050405020304" pitchFamily="18" charset="0"/>
              </a:rPr>
              <a:t>Data manipulation: Pandas</a:t>
            </a:r>
          </a:p>
        </p:txBody>
      </p:sp>
    </p:spTree>
    <p:extLst>
      <p:ext uri="{BB962C8B-B14F-4D97-AF65-F5344CB8AC3E}">
        <p14:creationId xmlns:p14="http://schemas.microsoft.com/office/powerpoint/2010/main" val="159590291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a:extLst>
            <a:ext uri="{FF2B5EF4-FFF2-40B4-BE49-F238E27FC236}">
              <a16:creationId xmlns:a16="http://schemas.microsoft.com/office/drawing/2014/main" id="{D90D80F5-00B4-0E4E-6BC1-6FAA3008867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37A1C96-A142-C7F4-6424-FAF890B08A5D}"/>
              </a:ext>
            </a:extLst>
          </p:cNvPr>
          <p:cNvSpPr>
            <a:spLocks noGrp="1"/>
          </p:cNvSpPr>
          <p:nvPr>
            <p:ph type="title"/>
          </p:nvPr>
        </p:nvSpPr>
        <p:spPr/>
        <p:txBody>
          <a:bodyPr>
            <a:normAutofit/>
          </a:bodyPr>
          <a:lstStyle/>
          <a:p>
            <a:r>
              <a:rPr lang="en-US" sz="4000" dirty="0">
                <a:latin typeface="Times New Roman" panose="02020603050405020304" pitchFamily="18" charset="0"/>
                <a:cs typeface="Times New Roman" panose="02020603050405020304" pitchFamily="18" charset="0"/>
              </a:rPr>
              <a:t>Data cleaning insights</a:t>
            </a:r>
          </a:p>
        </p:txBody>
      </p:sp>
      <p:sp>
        <p:nvSpPr>
          <p:cNvPr id="3" name="Content Placeholder 2">
            <a:extLst>
              <a:ext uri="{FF2B5EF4-FFF2-40B4-BE49-F238E27FC236}">
                <a16:creationId xmlns:a16="http://schemas.microsoft.com/office/drawing/2014/main" id="{218FD46C-E65B-5C2F-34AE-0DE85D4E4225}"/>
              </a:ext>
            </a:extLst>
          </p:cNvPr>
          <p:cNvSpPr>
            <a:spLocks noGrp="1"/>
          </p:cNvSpPr>
          <p:nvPr>
            <p:ph idx="1"/>
          </p:nvPr>
        </p:nvSpPr>
        <p:spPr/>
        <p:txBody>
          <a:bodyPr/>
          <a:lstStyle/>
          <a:p>
            <a:r>
              <a:rPr lang="en-US" sz="2400" dirty="0">
                <a:latin typeface="Times New Roman" panose="02020603050405020304" pitchFamily="18" charset="0"/>
                <a:cs typeface="Times New Roman" panose="02020603050405020304" pitchFamily="18" charset="0"/>
              </a:rPr>
              <a:t>This dataset contains no duplicate values.</a:t>
            </a:r>
          </a:p>
          <a:p>
            <a:r>
              <a:rPr lang="en-US" sz="2400" dirty="0">
                <a:latin typeface="Times New Roman" panose="02020603050405020304" pitchFamily="18" charset="0"/>
                <a:cs typeface="Times New Roman" panose="02020603050405020304" pitchFamily="18" charset="0"/>
              </a:rPr>
              <a:t>All numerical columns fall within the valid range</a:t>
            </a:r>
          </a:p>
          <a:p>
            <a:r>
              <a:rPr lang="en-US" sz="2400" dirty="0">
                <a:latin typeface="Times New Roman" panose="02020603050405020304" pitchFamily="18" charset="0"/>
                <a:cs typeface="Times New Roman" panose="02020603050405020304" pitchFamily="18" charset="0"/>
              </a:rPr>
              <a:t>All columns have correct datatypes(object, int64 and float64).</a:t>
            </a:r>
          </a:p>
          <a:p>
            <a:endParaRPr lang="en-US" sz="2400" dirty="0">
              <a:latin typeface="Times New Roman" panose="02020603050405020304" pitchFamily="18" charset="0"/>
              <a:cs typeface="Times New Roman" panose="02020603050405020304" pitchFamily="18" charset="0"/>
            </a:endParaRPr>
          </a:p>
          <a:p>
            <a:pPr marL="0" indent="0">
              <a:buNone/>
            </a:pPr>
            <a:r>
              <a:rPr lang="en-US" sz="2400" dirty="0">
                <a:latin typeface="Times New Roman" panose="02020603050405020304" pitchFamily="18" charset="0"/>
                <a:cs typeface="Times New Roman" panose="02020603050405020304" pitchFamily="18" charset="0"/>
              </a:rPr>
              <a:t>Identified issue:</a:t>
            </a:r>
          </a:p>
          <a:p>
            <a:r>
              <a:rPr lang="en-US" sz="2400" dirty="0">
                <a:latin typeface="Times New Roman" panose="02020603050405020304" pitchFamily="18" charset="0"/>
                <a:cs typeface="Times New Roman" panose="02020603050405020304" pitchFamily="18" charset="0"/>
              </a:rPr>
              <a:t>Some records show monthly charge in negative.</a:t>
            </a:r>
          </a:p>
          <a:p>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78468823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a:extLst>
            <a:ext uri="{FF2B5EF4-FFF2-40B4-BE49-F238E27FC236}">
              <a16:creationId xmlns:a16="http://schemas.microsoft.com/office/drawing/2014/main" id="{A3A1157B-23CC-1360-CDD7-C8925F717124}"/>
            </a:ext>
          </a:extLst>
        </p:cNvPr>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B8E09862-B37D-5DF0-ACC3-0DB24CFD84E8}"/>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49293" y="1364100"/>
            <a:ext cx="5506399" cy="4389129"/>
          </a:xfrm>
          <a:prstGeom prst="rect">
            <a:avLst/>
          </a:prstGeom>
        </p:spPr>
      </p:pic>
      <p:pic>
        <p:nvPicPr>
          <p:cNvPr id="7" name="Picture 6">
            <a:extLst>
              <a:ext uri="{FF2B5EF4-FFF2-40B4-BE49-F238E27FC236}">
                <a16:creationId xmlns:a16="http://schemas.microsoft.com/office/drawing/2014/main" id="{196F7749-F860-8FA6-F473-A8773B0122E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995001" y="1364100"/>
            <a:ext cx="5852172" cy="4389129"/>
          </a:xfrm>
          <a:prstGeom prst="rect">
            <a:avLst/>
          </a:prstGeom>
        </p:spPr>
      </p:pic>
    </p:spTree>
    <p:extLst>
      <p:ext uri="{BB962C8B-B14F-4D97-AF65-F5344CB8AC3E}">
        <p14:creationId xmlns:p14="http://schemas.microsoft.com/office/powerpoint/2010/main" val="362732929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a:extLst>
            <a:ext uri="{FF2B5EF4-FFF2-40B4-BE49-F238E27FC236}">
              <a16:creationId xmlns:a16="http://schemas.microsoft.com/office/drawing/2014/main" id="{44B294EC-9741-27C9-18D9-53B80556C407}"/>
            </a:ext>
          </a:extLst>
        </p:cNvPr>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1DF29396-87A4-113C-1B83-3164BEBC371D}"/>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707897" y="887922"/>
            <a:ext cx="6776206" cy="5082155"/>
          </a:xfrm>
          <a:prstGeom prst="rect">
            <a:avLst/>
          </a:prstGeom>
        </p:spPr>
      </p:pic>
    </p:spTree>
    <p:extLst>
      <p:ext uri="{BB962C8B-B14F-4D97-AF65-F5344CB8AC3E}">
        <p14:creationId xmlns:p14="http://schemas.microsoft.com/office/powerpoint/2010/main" val="49923635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a:extLst>
            <a:ext uri="{FF2B5EF4-FFF2-40B4-BE49-F238E27FC236}">
              <a16:creationId xmlns:a16="http://schemas.microsoft.com/office/drawing/2014/main" id="{273C869B-8381-53C0-188B-21917A75D58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D57E735-8620-1784-735D-F7A1DA95883B}"/>
              </a:ext>
            </a:extLst>
          </p:cNvPr>
          <p:cNvSpPr>
            <a:spLocks noGrp="1"/>
          </p:cNvSpPr>
          <p:nvPr>
            <p:ph type="title"/>
          </p:nvPr>
        </p:nvSpPr>
        <p:spPr>
          <a:xfrm>
            <a:off x="838200" y="365125"/>
            <a:ext cx="10515600" cy="854075"/>
          </a:xfrm>
        </p:spPr>
        <p:txBody>
          <a:bodyPr>
            <a:normAutofit/>
          </a:bodyPr>
          <a:lstStyle/>
          <a:p>
            <a:r>
              <a:rPr lang="en-US" sz="3600" dirty="0">
                <a:latin typeface="Times New Roman" panose="02020603050405020304" pitchFamily="18" charset="0"/>
                <a:cs typeface="Times New Roman" panose="02020603050405020304" pitchFamily="18" charset="0"/>
              </a:rPr>
              <a:t>Other Key Insights</a:t>
            </a:r>
          </a:p>
        </p:txBody>
      </p:sp>
      <p:sp>
        <p:nvSpPr>
          <p:cNvPr id="3" name="Content Placeholder 2">
            <a:extLst>
              <a:ext uri="{FF2B5EF4-FFF2-40B4-BE49-F238E27FC236}">
                <a16:creationId xmlns:a16="http://schemas.microsoft.com/office/drawing/2014/main" id="{3E4ED2C3-D7B2-21E9-9305-91F3D8DB8B2F}"/>
              </a:ext>
            </a:extLst>
          </p:cNvPr>
          <p:cNvSpPr>
            <a:spLocks noGrp="1"/>
          </p:cNvSpPr>
          <p:nvPr>
            <p:ph idx="1"/>
          </p:nvPr>
        </p:nvSpPr>
        <p:spPr>
          <a:xfrm>
            <a:off x="838200" y="1219200"/>
            <a:ext cx="10515600" cy="4957763"/>
          </a:xfrm>
        </p:spPr>
        <p:txBody>
          <a:bodyPr>
            <a:normAutofit/>
          </a:bodyPr>
          <a:lstStyle/>
          <a:p>
            <a:r>
              <a:rPr lang="en-US" sz="2400" dirty="0">
                <a:latin typeface="Times New Roman" panose="02020603050405020304" pitchFamily="18" charset="0"/>
                <a:cs typeface="Times New Roman" panose="02020603050405020304" pitchFamily="18" charset="0"/>
              </a:rPr>
              <a:t>Customer Status Distribution: 4720 stayed, 1869 churned, and 454 newly joined.</a:t>
            </a:r>
          </a:p>
          <a:p>
            <a:r>
              <a:rPr lang="en-US" sz="2400" dirty="0">
                <a:latin typeface="Times New Roman" panose="02020603050405020304" pitchFamily="18" charset="0"/>
                <a:cs typeface="Times New Roman" panose="02020603050405020304" pitchFamily="18" charset="0"/>
              </a:rPr>
              <a:t>Most customers use month-to-month contracts, while the rest are evenly split between 1-year and 2-year contracts.</a:t>
            </a:r>
          </a:p>
          <a:p>
            <a:r>
              <a:rPr lang="en-US" sz="2400" dirty="0">
                <a:latin typeface="Times New Roman" panose="02020603050405020304" pitchFamily="18" charset="0"/>
                <a:cs typeface="Times New Roman" panose="02020603050405020304" pitchFamily="18" charset="0"/>
              </a:rPr>
              <a:t>Age &amp; Gender don’t influence the churn rate of customers.</a:t>
            </a:r>
          </a:p>
          <a:p>
            <a:r>
              <a:rPr lang="en-US" sz="2400" dirty="0">
                <a:latin typeface="Times New Roman" panose="02020603050405020304" pitchFamily="18" charset="0"/>
                <a:cs typeface="Times New Roman" panose="02020603050405020304" pitchFamily="18" charset="0"/>
              </a:rPr>
              <a:t>More than 50% of customers haven’t referred to anyone while only 1k customers referred to only 1 person.</a:t>
            </a:r>
          </a:p>
          <a:p>
            <a:r>
              <a:rPr lang="en-US" sz="2400" dirty="0">
                <a:latin typeface="Times New Roman" panose="02020603050405020304" pitchFamily="18" charset="0"/>
                <a:cs typeface="Times New Roman" panose="02020603050405020304" pitchFamily="18" charset="0"/>
              </a:rPr>
              <a:t>Customers tend to leave once their monthly bill crosses ₹80, while new joiners usually choose plans cheaper than ₹60(without internet service).</a:t>
            </a:r>
          </a:p>
          <a:p>
            <a:r>
              <a:rPr lang="en-US" sz="2400" dirty="0">
                <a:latin typeface="Times New Roman" panose="02020603050405020304" pitchFamily="18" charset="0"/>
                <a:cs typeface="Times New Roman" panose="02020603050405020304" pitchFamily="18" charset="0"/>
              </a:rPr>
              <a:t>Unmarried customers and customers who have 0 dependents show high churn rate than married and have 1 or more dependents.</a:t>
            </a:r>
          </a:p>
          <a:p>
            <a:r>
              <a:rPr lang="en-US" sz="2400" dirty="0">
                <a:latin typeface="Times New Roman" panose="02020603050405020304" pitchFamily="18" charset="0"/>
                <a:cs typeface="Times New Roman" panose="02020603050405020304" pitchFamily="18" charset="0"/>
              </a:rPr>
              <a:t>Customer using internet services has higher churn rate than the customers who don’t.</a:t>
            </a:r>
          </a:p>
          <a:p>
            <a:endParaRPr lang="en-US"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43489128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a:extLst>
            <a:ext uri="{FF2B5EF4-FFF2-40B4-BE49-F238E27FC236}">
              <a16:creationId xmlns:a16="http://schemas.microsoft.com/office/drawing/2014/main" id="{81D90863-2ED8-EE7E-B585-787D90866E6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EFD0BF8-ED5A-0C6E-079F-C3A077C9F2FD}"/>
              </a:ext>
            </a:extLst>
          </p:cNvPr>
          <p:cNvSpPr>
            <a:spLocks noGrp="1"/>
          </p:cNvSpPr>
          <p:nvPr>
            <p:ph type="title"/>
          </p:nvPr>
        </p:nvSpPr>
        <p:spPr/>
        <p:txBody>
          <a:bodyPr>
            <a:normAutofit/>
          </a:bodyPr>
          <a:lstStyle/>
          <a:p>
            <a:r>
              <a:rPr lang="en-US" sz="3600" dirty="0">
                <a:latin typeface="Times New Roman" panose="02020603050405020304" pitchFamily="18" charset="0"/>
                <a:cs typeface="Times New Roman" panose="02020603050405020304" pitchFamily="18" charset="0"/>
              </a:rPr>
              <a:t>Other key insights</a:t>
            </a:r>
          </a:p>
        </p:txBody>
      </p:sp>
      <p:sp>
        <p:nvSpPr>
          <p:cNvPr id="3" name="Content Placeholder 2">
            <a:extLst>
              <a:ext uri="{FF2B5EF4-FFF2-40B4-BE49-F238E27FC236}">
                <a16:creationId xmlns:a16="http://schemas.microsoft.com/office/drawing/2014/main" id="{56610F45-EC78-1CB3-5F73-0996703349AF}"/>
              </a:ext>
            </a:extLst>
          </p:cNvPr>
          <p:cNvSpPr>
            <a:spLocks noGrp="1"/>
          </p:cNvSpPr>
          <p:nvPr>
            <p:ph idx="1"/>
          </p:nvPr>
        </p:nvSpPr>
        <p:spPr/>
        <p:txBody>
          <a:bodyPr/>
          <a:lstStyle/>
          <a:p>
            <a:r>
              <a:rPr lang="en-US" dirty="0">
                <a:latin typeface="Times New Roman" panose="02020603050405020304" pitchFamily="18" charset="0"/>
                <a:cs typeface="Times New Roman" panose="02020603050405020304" pitchFamily="18" charset="0"/>
              </a:rPr>
              <a:t>Customers using fiber optic cable as their internet type are more likely to leave compared to other internet type.</a:t>
            </a:r>
          </a:p>
          <a:p>
            <a:r>
              <a:rPr lang="en-US" dirty="0">
                <a:latin typeface="Times New Roman" panose="02020603050405020304" pitchFamily="18" charset="0"/>
                <a:cs typeface="Times New Roman" panose="02020603050405020304" pitchFamily="18" charset="0"/>
              </a:rPr>
              <a:t>Contract type, tenure and Offer type are the main things influencing the churn rate.</a:t>
            </a:r>
          </a:p>
        </p:txBody>
      </p:sp>
    </p:spTree>
    <p:extLst>
      <p:ext uri="{BB962C8B-B14F-4D97-AF65-F5344CB8AC3E}">
        <p14:creationId xmlns:p14="http://schemas.microsoft.com/office/powerpoint/2010/main" val="211761544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a:extLst>
            <a:ext uri="{FF2B5EF4-FFF2-40B4-BE49-F238E27FC236}">
              <a16:creationId xmlns:a16="http://schemas.microsoft.com/office/drawing/2014/main" id="{83F07983-9187-F9AD-873E-599D230C9FA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077474A-CAB9-CCBC-000F-C0466AD48BEC}"/>
              </a:ext>
            </a:extLst>
          </p:cNvPr>
          <p:cNvSpPr>
            <a:spLocks noGrp="1"/>
          </p:cNvSpPr>
          <p:nvPr>
            <p:ph type="title"/>
          </p:nvPr>
        </p:nvSpPr>
        <p:spPr/>
        <p:txBody>
          <a:bodyPr>
            <a:normAutofit/>
          </a:bodyPr>
          <a:lstStyle/>
          <a:p>
            <a:r>
              <a:rPr lang="en-US" dirty="0">
                <a:latin typeface="Times New Roman" panose="02020603050405020304" pitchFamily="18" charset="0"/>
                <a:cs typeface="Times New Roman" panose="02020603050405020304" pitchFamily="18" charset="0"/>
              </a:rPr>
              <a:t>Solutions</a:t>
            </a:r>
          </a:p>
        </p:txBody>
      </p:sp>
      <p:sp>
        <p:nvSpPr>
          <p:cNvPr id="3" name="Content Placeholder 2">
            <a:extLst>
              <a:ext uri="{FF2B5EF4-FFF2-40B4-BE49-F238E27FC236}">
                <a16:creationId xmlns:a16="http://schemas.microsoft.com/office/drawing/2014/main" id="{C3A834B1-D47B-18F6-3A1C-EA089E875416}"/>
              </a:ext>
            </a:extLst>
          </p:cNvPr>
          <p:cNvSpPr>
            <a:spLocks noGrp="1"/>
          </p:cNvSpPr>
          <p:nvPr>
            <p:ph idx="1"/>
          </p:nvPr>
        </p:nvSpPr>
        <p:spPr/>
        <p:txBody>
          <a:bodyPr>
            <a:normAutofit/>
          </a:bodyPr>
          <a:lstStyle/>
          <a:p>
            <a:r>
              <a:rPr lang="en-US" sz="2400" dirty="0">
                <a:latin typeface="Times New Roman" panose="02020603050405020304" pitchFamily="18" charset="0"/>
                <a:cs typeface="Times New Roman" panose="02020603050405020304" pitchFamily="18" charset="0"/>
              </a:rPr>
              <a:t>Introduce new affordable plans for customers who are tight on their budget.</a:t>
            </a:r>
          </a:p>
          <a:p>
            <a:r>
              <a:rPr lang="en-US" sz="2400" dirty="0">
                <a:latin typeface="Times New Roman" panose="02020603050405020304" pitchFamily="18" charset="0"/>
                <a:cs typeface="Times New Roman" panose="02020603050405020304" pitchFamily="18" charset="0"/>
              </a:rPr>
              <a:t>Offer flexible mid-range plans with benefits, since customers are either buying cheap or premium plans.</a:t>
            </a:r>
          </a:p>
          <a:p>
            <a:r>
              <a:rPr lang="en-US" sz="2400" dirty="0">
                <a:latin typeface="Times New Roman" panose="02020603050405020304" pitchFamily="18" charset="0"/>
                <a:cs typeface="Times New Roman" panose="02020603050405020304" pitchFamily="18" charset="0"/>
              </a:rPr>
              <a:t>Push month to month customers to 1 or 1.5 years by providing incentives like cashback, bonus data or data rollover(like VI).</a:t>
            </a:r>
          </a:p>
          <a:p>
            <a:r>
              <a:rPr lang="en-US" sz="2400" dirty="0">
                <a:latin typeface="Times New Roman" panose="02020603050405020304" pitchFamily="18" charset="0"/>
                <a:cs typeface="Times New Roman" panose="02020603050405020304" pitchFamily="18" charset="0"/>
              </a:rPr>
              <a:t>Make customer support more helpful and give customers easy service options on the app or website and improve the customer support </a:t>
            </a:r>
            <a:r>
              <a:rPr lang="en-US" sz="2400">
                <a:latin typeface="Times New Roman" panose="02020603050405020304" pitchFamily="18" charset="0"/>
                <a:cs typeface="Times New Roman" panose="02020603050405020304" pitchFamily="18" charset="0"/>
              </a:rPr>
              <a:t>staff’s behavior.</a:t>
            </a:r>
            <a:endParaRPr lang="en-US" sz="2400" dirty="0">
              <a:latin typeface="Times New Roman" panose="02020603050405020304" pitchFamily="18" charset="0"/>
              <a:cs typeface="Times New Roman" panose="02020603050405020304" pitchFamily="18" charset="0"/>
            </a:endParaRPr>
          </a:p>
          <a:p>
            <a:r>
              <a:rPr lang="en-US" sz="2400" dirty="0">
                <a:latin typeface="Times New Roman" panose="02020603050405020304" pitchFamily="18" charset="0"/>
                <a:cs typeface="Times New Roman" panose="02020603050405020304" pitchFamily="18" charset="0"/>
              </a:rPr>
              <a:t>Launch referral bonus for customers who refer for more 2 or more people.</a:t>
            </a:r>
          </a:p>
          <a:p>
            <a:r>
              <a:rPr lang="en-US" sz="2400" dirty="0">
                <a:latin typeface="Times New Roman" panose="02020603050405020304" pitchFamily="18" charset="0"/>
                <a:cs typeface="Times New Roman" panose="02020603050405020304" pitchFamily="18" charset="0"/>
              </a:rPr>
              <a:t>Review offers giving negative response, resolve the issue and find solution and promote the positive response </a:t>
            </a:r>
          </a:p>
        </p:txBody>
      </p:sp>
    </p:spTree>
    <p:extLst>
      <p:ext uri="{BB962C8B-B14F-4D97-AF65-F5344CB8AC3E}">
        <p14:creationId xmlns:p14="http://schemas.microsoft.com/office/powerpoint/2010/main" val="279780902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a:extLst>
            <a:ext uri="{FF2B5EF4-FFF2-40B4-BE49-F238E27FC236}">
              <a16:creationId xmlns:a16="http://schemas.microsoft.com/office/drawing/2014/main" id="{02D6248D-15E6-F958-D724-7C286FFF97B3}"/>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5074E28-E681-0471-8B49-D727364516AA}"/>
              </a:ext>
            </a:extLst>
          </p:cNvPr>
          <p:cNvSpPr>
            <a:spLocks noGrp="1"/>
          </p:cNvSpPr>
          <p:nvPr>
            <p:ph idx="1"/>
          </p:nvPr>
        </p:nvSpPr>
        <p:spPr>
          <a:xfrm>
            <a:off x="838200" y="3041468"/>
            <a:ext cx="10515600" cy="775063"/>
          </a:xfrm>
        </p:spPr>
        <p:txBody>
          <a:bodyPr>
            <a:normAutofit/>
          </a:bodyPr>
          <a:lstStyle/>
          <a:p>
            <a:pPr marL="0" indent="0" algn="ctr">
              <a:buNone/>
            </a:pPr>
            <a:r>
              <a:rPr lang="en-US" sz="4400" dirty="0">
                <a:latin typeface="Times New Roman" panose="02020603050405020304" pitchFamily="18" charset="0"/>
                <a:cs typeface="Times New Roman" panose="02020603050405020304" pitchFamily="18" charset="0"/>
              </a:rPr>
              <a:t>Thank You!</a:t>
            </a:r>
          </a:p>
        </p:txBody>
      </p:sp>
    </p:spTree>
    <p:extLst>
      <p:ext uri="{BB962C8B-B14F-4D97-AF65-F5344CB8AC3E}">
        <p14:creationId xmlns:p14="http://schemas.microsoft.com/office/powerpoint/2010/main" val="268476049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226</TotalTime>
  <Words>530</Words>
  <Application>Microsoft Office PowerPoint</Application>
  <PresentationFormat>Widescreen</PresentationFormat>
  <Paragraphs>49</Paragraphs>
  <Slides>12</Slides>
  <Notes>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12</vt:i4>
      </vt:variant>
    </vt:vector>
  </HeadingPairs>
  <TitlesOfParts>
    <vt:vector size="17" baseType="lpstr">
      <vt:lpstr>Arial</vt:lpstr>
      <vt:lpstr>Calibri</vt:lpstr>
      <vt:lpstr>Calibri Light</vt:lpstr>
      <vt:lpstr>Times New Roman</vt:lpstr>
      <vt:lpstr>Office Theme</vt:lpstr>
      <vt:lpstr>Customer Churn Analysis</vt:lpstr>
      <vt:lpstr>Problem Statement</vt:lpstr>
      <vt:lpstr>Objective</vt:lpstr>
      <vt:lpstr>Overview of dataset</vt:lpstr>
      <vt:lpstr>Tools I’ve used</vt:lpstr>
      <vt:lpstr>Data cleaning insights</vt:lpstr>
      <vt:lpstr>PowerPoint Presentation</vt:lpstr>
      <vt:lpstr>PowerPoint Presentation</vt:lpstr>
      <vt:lpstr>Other Key Insights</vt:lpstr>
      <vt:lpstr>Other key insights</vt:lpstr>
      <vt:lpstr>Solutions</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Jayant Sail</dc:creator>
  <cp:lastModifiedBy>Jayant Sail</cp:lastModifiedBy>
  <cp:revision>8</cp:revision>
  <dcterms:created xsi:type="dcterms:W3CDTF">2026-03-31T05:56:21Z</dcterms:created>
  <dcterms:modified xsi:type="dcterms:W3CDTF">2026-04-03T13:37:11Z</dcterms:modified>
</cp:coreProperties>
</file>